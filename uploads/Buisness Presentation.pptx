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Lexend Medium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ed94c543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ed94c543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d94c543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d94c543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d94c54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ed94c54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d94c543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ed94c543c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ed94c543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ed94c543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d94c543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d94c543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e3a71f8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e3a71f8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e3a71f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e3a71f8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e3a71f8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e3a71f8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1399200" y="665713"/>
            <a:ext cx="6345600" cy="4338630"/>
            <a:chOff x="1399200" y="1031550"/>
            <a:chExt cx="6345600" cy="4338630"/>
          </a:xfrm>
        </p:grpSpPr>
        <p:grpSp>
          <p:nvGrpSpPr>
            <p:cNvPr id="55" name="Google Shape;55;p13"/>
            <p:cNvGrpSpPr/>
            <p:nvPr/>
          </p:nvGrpSpPr>
          <p:grpSpPr>
            <a:xfrm>
              <a:off x="1399200" y="1031550"/>
              <a:ext cx="6345600" cy="1874072"/>
              <a:chOff x="1399200" y="857450"/>
              <a:chExt cx="6345600" cy="1874072"/>
            </a:xfrm>
          </p:grpSpPr>
          <p:sp>
            <p:nvSpPr>
              <p:cNvPr id="56" name="Google Shape;56;p13"/>
              <p:cNvSpPr txBox="1"/>
              <p:nvPr/>
            </p:nvSpPr>
            <p:spPr>
              <a:xfrm>
                <a:off x="1399200" y="1350050"/>
                <a:ext cx="6345600" cy="80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200" b="1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 Medium"/>
                    <a:cs typeface="Times New Roman" panose="02020603050405020304" pitchFamily="18" charset="0"/>
                    <a:sym typeface="Lexend Medium"/>
                  </a:rPr>
                  <a:t>BUG BOTTLE</a:t>
                </a:r>
                <a:endParaRPr sz="7200"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endParaRPr>
              </a:p>
            </p:txBody>
          </p:sp>
          <p:sp>
            <p:nvSpPr>
              <p:cNvPr id="57" name="Google Shape;57;p13"/>
              <p:cNvSpPr txBox="1"/>
              <p:nvPr/>
            </p:nvSpPr>
            <p:spPr>
              <a:xfrm>
                <a:off x="1399200" y="857450"/>
                <a:ext cx="6345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 Medium"/>
                    <a:cs typeface="Times New Roman" panose="02020603050405020304" pitchFamily="18" charset="0"/>
                    <a:sym typeface="Lexend Medium"/>
                  </a:rPr>
                  <a:t>BUSINESS PROPOSAL FOR</a:t>
                </a:r>
                <a:endParaRPr sz="20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endParaRPr>
              </a:p>
            </p:txBody>
          </p:sp>
          <p:sp>
            <p:nvSpPr>
              <p:cNvPr id="58" name="Google Shape;58;p13"/>
              <p:cNvSpPr txBox="1"/>
              <p:nvPr/>
            </p:nvSpPr>
            <p:spPr>
              <a:xfrm>
                <a:off x="1399200" y="2238922"/>
                <a:ext cx="6345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 Medium"/>
                    <a:cs typeface="Times New Roman" panose="02020603050405020304" pitchFamily="18" charset="0"/>
                    <a:sym typeface="Lexend Medium"/>
                  </a:rPr>
                  <a:t>December 12th, 2025</a:t>
                </a:r>
                <a:endParaRPr sz="20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endParaRPr>
              </a:p>
            </p:txBody>
          </p:sp>
        </p:grpSp>
        <p:sp>
          <p:nvSpPr>
            <p:cNvPr id="59" name="Google Shape;59;p13"/>
            <p:cNvSpPr txBox="1"/>
            <p:nvPr/>
          </p:nvSpPr>
          <p:spPr>
            <a:xfrm>
              <a:off x="1399200" y="2969553"/>
              <a:ext cx="6345600" cy="2400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Presented By </a:t>
              </a: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SINDID HOSSAIN (232-35-100)</a:t>
              </a:r>
            </a:p>
            <a:p>
              <a:pPr lvl="0" algn="ctr">
                <a:lnSpc>
                  <a:spcPct val="150000"/>
                </a:lnSpc>
              </a:pPr>
              <a:r>
                <a:rPr lang="en" sz="12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AFRIM HOSSEN KHAN (232-35-076)</a:t>
              </a:r>
            </a:p>
            <a:p>
              <a:pPr lvl="0" algn="ctr">
                <a:lnSpc>
                  <a:spcPct val="150000"/>
                </a:lnSpc>
              </a:pPr>
              <a:r>
                <a:rPr lang="en" sz="12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SM NIHAL AHMED (232-35-002)</a:t>
              </a:r>
            </a:p>
            <a:p>
              <a:pPr lvl="0" algn="ctr">
                <a:lnSpc>
                  <a:spcPct val="150000"/>
                </a:lnSpc>
              </a:pPr>
              <a:r>
                <a:rPr lang="en" sz="12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UMMY SAWDA (241-35-520)</a:t>
              </a:r>
            </a:p>
            <a:p>
              <a:pPr lvl="0" algn="ctr">
                <a:lnSpc>
                  <a:spcPct val="150000"/>
                </a:lnSpc>
              </a:pPr>
              <a:r>
                <a:rPr lang="en" sz="12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AFRIN JAHAN HAQUE TONNY (232-35-755)</a:t>
              </a:r>
            </a:p>
            <a:p>
              <a:pPr lvl="0" algn="ctr">
                <a:lnSpc>
                  <a:spcPct val="150000"/>
                </a:lnSpc>
              </a:pPr>
              <a:r>
                <a:rPr lang="en" sz="12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AYSHA AKTHER (232-35-741)</a:t>
              </a:r>
            </a:p>
            <a:p>
              <a:pPr lvl="0" algn="ctr">
                <a:lnSpc>
                  <a:spcPct val="150000"/>
                </a:lnSpc>
              </a:pPr>
              <a:r>
                <a:rPr lang="en" sz="1200" dirty="0">
                  <a:solidFill>
                    <a:schemeClr val="dk2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 </a:t>
              </a:r>
              <a:endParaRPr sz="1200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1236438" y="205876"/>
            <a:ext cx="63456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PROBLEM STATEMENT</a:t>
            </a:r>
            <a:endParaRPr sz="40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845491" y="1464625"/>
            <a:ext cx="3227711" cy="1240865"/>
            <a:chOff x="854616" y="1282225"/>
            <a:chExt cx="3227711" cy="1240865"/>
          </a:xfrm>
        </p:grpSpPr>
        <p:pic>
          <p:nvPicPr>
            <p:cNvPr id="66" name="Google Shape;66;p14" title="mosquito-coil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4625" y="1282225"/>
              <a:ext cx="863825" cy="8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 title="cigarette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6372" y="1282225"/>
              <a:ext cx="863825" cy="8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4" title="equ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30750" y="1738199"/>
              <a:ext cx="313725" cy="313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4"/>
            <p:cNvSpPr txBox="1"/>
            <p:nvPr/>
          </p:nvSpPr>
          <p:spPr>
            <a:xfrm>
              <a:off x="854616" y="2123011"/>
              <a:ext cx="7011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1 Coil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2094227" y="2123011"/>
              <a:ext cx="19881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75 - 137 cigarettes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</p:grpSp>
      <p:sp>
        <p:nvSpPr>
          <p:cNvPr id="71" name="Google Shape;71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4776714" y="1422027"/>
            <a:ext cx="4256137" cy="1245713"/>
            <a:chOff x="4776714" y="1639202"/>
            <a:chExt cx="4256137" cy="1245713"/>
          </a:xfrm>
        </p:grpSpPr>
        <p:pic>
          <p:nvPicPr>
            <p:cNvPr id="73" name="Google Shape;73;p14" title="family-member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92346" y="1643772"/>
              <a:ext cx="859535" cy="8595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4" title="toxic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453125" y="1639202"/>
              <a:ext cx="868680" cy="868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4"/>
            <p:cNvSpPr txBox="1"/>
            <p:nvPr/>
          </p:nvSpPr>
          <p:spPr>
            <a:xfrm>
              <a:off x="4776714" y="2484836"/>
              <a:ext cx="22215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Liquid Mosquito Vaporizers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6811351" y="2484836"/>
              <a:ext cx="22215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1 To 18 Years Old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3415148" y="3345572"/>
            <a:ext cx="2313701" cy="1406308"/>
            <a:chOff x="3415148" y="3345572"/>
            <a:chExt cx="2313701" cy="1406308"/>
          </a:xfrm>
        </p:grpSpPr>
        <p:pic>
          <p:nvPicPr>
            <p:cNvPr id="78" name="Google Shape;78;p14" title="pneumonia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415148" y="3345576"/>
              <a:ext cx="1006200" cy="100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4" title="asthma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722649" y="3345572"/>
              <a:ext cx="1006200" cy="100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 txBox="1"/>
            <p:nvPr/>
          </p:nvSpPr>
          <p:spPr>
            <a:xfrm>
              <a:off x="3415148" y="4351801"/>
              <a:ext cx="22215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Potential Carcinogenic Risk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1399200" y="204897"/>
            <a:ext cx="634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SOLUTION</a:t>
            </a:r>
            <a:endParaRPr sz="44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15"/>
          <p:cNvGrpSpPr/>
          <p:nvPr/>
        </p:nvGrpSpPr>
        <p:grpSpPr>
          <a:xfrm>
            <a:off x="1930003" y="1379233"/>
            <a:ext cx="5283985" cy="2913987"/>
            <a:chOff x="1532991" y="1233308"/>
            <a:chExt cx="5283985" cy="2913987"/>
          </a:xfrm>
        </p:grpSpPr>
        <p:grpSp>
          <p:nvGrpSpPr>
            <p:cNvPr id="88" name="Google Shape;88;p15"/>
            <p:cNvGrpSpPr/>
            <p:nvPr/>
          </p:nvGrpSpPr>
          <p:grpSpPr>
            <a:xfrm>
              <a:off x="1532991" y="1233308"/>
              <a:ext cx="2313120" cy="2913987"/>
              <a:chOff x="2153141" y="1623470"/>
              <a:chExt cx="2313120" cy="2913987"/>
            </a:xfrm>
          </p:grpSpPr>
          <p:pic>
            <p:nvPicPr>
              <p:cNvPr id="89" name="Google Shape;89;p15" title="flower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568800" y="1623470"/>
                <a:ext cx="897460" cy="9083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" name="Google Shape;90;p15" title="juice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568790" y="3629095"/>
                <a:ext cx="897460" cy="9083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" name="Google Shape;91;p15" title="syrup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153141" y="2531825"/>
                <a:ext cx="1084110" cy="10972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2" name="Google Shape;92;p15" title="mosquit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32866" y="2141663"/>
              <a:ext cx="1084110" cy="10972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3" name="Google Shape;93;p15"/>
            <p:cNvCxnSpPr>
              <a:stCxn id="92" idx="1"/>
              <a:endCxn id="89" idx="3"/>
            </p:cNvCxnSpPr>
            <p:nvPr/>
          </p:nvCxnSpPr>
          <p:spPr>
            <a:xfrm rot="10800000">
              <a:off x="3846166" y="1687403"/>
              <a:ext cx="1886700" cy="100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4" name="Google Shape;94;p15"/>
            <p:cNvCxnSpPr>
              <a:endCxn id="91" idx="3"/>
            </p:cNvCxnSpPr>
            <p:nvPr/>
          </p:nvCxnSpPr>
          <p:spPr>
            <a:xfrm rot="10800000">
              <a:off x="2617101" y="2690303"/>
              <a:ext cx="3115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" name="Google Shape;95;p15"/>
            <p:cNvCxnSpPr>
              <a:stCxn id="92" idx="1"/>
              <a:endCxn id="90" idx="3"/>
            </p:cNvCxnSpPr>
            <p:nvPr/>
          </p:nvCxnSpPr>
          <p:spPr>
            <a:xfrm flipH="1">
              <a:off x="3846166" y="2690303"/>
              <a:ext cx="1886700" cy="100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1399200" y="242092"/>
            <a:ext cx="63456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SOLUTION PRODUCT</a:t>
            </a:r>
            <a:endParaRPr sz="40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1613975" y="1487686"/>
            <a:ext cx="5916050" cy="2592289"/>
            <a:chOff x="2702475" y="1505936"/>
            <a:chExt cx="5916050" cy="2592289"/>
          </a:xfrm>
        </p:grpSpPr>
        <p:sp>
          <p:nvSpPr>
            <p:cNvPr id="103" name="Google Shape;103;p16"/>
            <p:cNvSpPr txBox="1"/>
            <p:nvPr/>
          </p:nvSpPr>
          <p:spPr>
            <a:xfrm>
              <a:off x="6867125" y="1505936"/>
              <a:ext cx="7116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Funnel</a:t>
              </a:r>
              <a:r>
                <a:rPr lang="en" sz="1200" dirty="0">
                  <a:solidFill>
                    <a:schemeClr val="dk2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 </a:t>
              </a:r>
              <a:endParaRPr sz="1200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</p:txBody>
        </p:sp>
        <p:grpSp>
          <p:nvGrpSpPr>
            <p:cNvPr id="104" name="Google Shape;104;p16"/>
            <p:cNvGrpSpPr/>
            <p:nvPr/>
          </p:nvGrpSpPr>
          <p:grpSpPr>
            <a:xfrm>
              <a:off x="2702475" y="1695175"/>
              <a:ext cx="1513850" cy="2403050"/>
              <a:chOff x="3815075" y="1716775"/>
              <a:chExt cx="1513850" cy="2403050"/>
            </a:xfrm>
          </p:grpSpPr>
          <p:sp>
            <p:nvSpPr>
              <p:cNvPr id="105" name="Google Shape;105;p16"/>
              <p:cNvSpPr/>
              <p:nvPr/>
            </p:nvSpPr>
            <p:spPr>
              <a:xfrm>
                <a:off x="3815075" y="3435850"/>
                <a:ext cx="1513850" cy="683975"/>
              </a:xfrm>
              <a:prstGeom prst="flowChartProcess">
                <a:avLst/>
              </a:prstGeom>
              <a:solidFill>
                <a:srgbClr val="C9DAF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3815075" y="1730463"/>
                <a:ext cx="1513850" cy="1705375"/>
              </a:xfrm>
              <a:prstGeom prst="flowChartProcess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 rot="10800000" flipH="1">
                <a:off x="3815100" y="1716775"/>
                <a:ext cx="1513800" cy="1532100"/>
              </a:xfrm>
              <a:prstGeom prst="triangle">
                <a:avLst>
                  <a:gd name="adj" fmla="val 50000"/>
                </a:avLst>
              </a:prstGeom>
              <a:solidFill>
                <a:srgbClr val="FFF2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3815075" y="3647875"/>
                <a:ext cx="1513850" cy="471950"/>
              </a:xfrm>
              <a:prstGeom prst="flowChartProcess">
                <a:avLst/>
              </a:prstGeom>
              <a:solidFill>
                <a:srgbClr val="FF99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" name="Google Shape;109;p16"/>
            <p:cNvSpPr txBox="1"/>
            <p:nvPr/>
          </p:nvSpPr>
          <p:spPr>
            <a:xfrm>
              <a:off x="6493175" y="2371711"/>
              <a:ext cx="14595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Upper Body 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6493175" y="3097880"/>
              <a:ext cx="1459500" cy="615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Lower Body (removable)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5827625" y="3687886"/>
              <a:ext cx="27909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Liquid With Fragrance and Sugar </a:t>
              </a:r>
              <a:endParaRPr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  <p:cxnSp>
          <p:nvCxnSpPr>
            <p:cNvPr id="112" name="Google Shape;112;p16"/>
            <p:cNvCxnSpPr>
              <a:stCxn id="103" idx="1"/>
              <a:endCxn id="107" idx="4"/>
            </p:cNvCxnSpPr>
            <p:nvPr/>
          </p:nvCxnSpPr>
          <p:spPr>
            <a:xfrm flipH="1" flipV="1">
              <a:off x="4216300" y="1695175"/>
              <a:ext cx="2650825" cy="1080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6"/>
            <p:cNvCxnSpPr>
              <a:stCxn id="109" idx="1"/>
              <a:endCxn id="106" idx="3"/>
            </p:cNvCxnSpPr>
            <p:nvPr/>
          </p:nvCxnSpPr>
          <p:spPr>
            <a:xfrm flipH="1" flipV="1">
              <a:off x="4216325" y="2561551"/>
              <a:ext cx="2276850" cy="1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16"/>
            <p:cNvCxnSpPr>
              <a:stCxn id="110" idx="1"/>
              <a:endCxn id="106" idx="2"/>
            </p:cNvCxnSpPr>
            <p:nvPr/>
          </p:nvCxnSpPr>
          <p:spPr>
            <a:xfrm flipH="1">
              <a:off x="3459400" y="3405642"/>
              <a:ext cx="3033775" cy="85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16"/>
            <p:cNvCxnSpPr>
              <a:stCxn id="111" idx="1"/>
              <a:endCxn id="108" idx="3"/>
            </p:cNvCxnSpPr>
            <p:nvPr/>
          </p:nvCxnSpPr>
          <p:spPr>
            <a:xfrm flipH="1" flipV="1">
              <a:off x="4216325" y="3862250"/>
              <a:ext cx="1611300" cy="2567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399200" y="265204"/>
            <a:ext cx="634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L-R-E-T-S</a:t>
            </a:r>
            <a:endParaRPr sz="44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" name="Google Shape;122;p17"/>
          <p:cNvGrpSpPr/>
          <p:nvPr/>
        </p:nvGrpSpPr>
        <p:grpSpPr>
          <a:xfrm>
            <a:off x="1358525" y="1455500"/>
            <a:ext cx="6426925" cy="3194915"/>
            <a:chOff x="1358538" y="1264000"/>
            <a:chExt cx="6426925" cy="3194915"/>
          </a:xfrm>
        </p:grpSpPr>
        <p:pic>
          <p:nvPicPr>
            <p:cNvPr id="123" name="Google Shape;123;p17" title="scal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6464" y="3102895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" name="Google Shape;124;p17"/>
            <p:cNvGrpSpPr/>
            <p:nvPr/>
          </p:nvGrpSpPr>
          <p:grpSpPr>
            <a:xfrm>
              <a:off x="1358538" y="1264000"/>
              <a:ext cx="1459500" cy="1345440"/>
              <a:chOff x="703625" y="1241700"/>
              <a:chExt cx="1459500" cy="1345440"/>
            </a:xfrm>
          </p:grpSpPr>
          <p:pic>
            <p:nvPicPr>
              <p:cNvPr id="125" name="Google Shape;125;p17" title="startup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76165" y="12417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7"/>
              <p:cNvSpPr txBox="1"/>
              <p:nvPr/>
            </p:nvSpPr>
            <p:spPr>
              <a:xfrm>
                <a:off x="703625" y="2187061"/>
                <a:ext cx="1459500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"/>
                    <a:cs typeface="Times New Roman" panose="02020603050405020304" pitchFamily="18" charset="0"/>
                    <a:sym typeface="Lexend"/>
                  </a:rPr>
                  <a:t>Launch</a:t>
                </a:r>
                <a:endParaRPr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"/>
                  <a:cs typeface="Times New Roman" panose="02020603050405020304" pitchFamily="18" charset="0"/>
                  <a:sym typeface="Lexend"/>
                </a:endParaRPr>
              </a:p>
            </p:txBody>
          </p:sp>
        </p:grpSp>
        <p:grpSp>
          <p:nvGrpSpPr>
            <p:cNvPr id="127" name="Google Shape;127;p17"/>
            <p:cNvGrpSpPr/>
            <p:nvPr/>
          </p:nvGrpSpPr>
          <p:grpSpPr>
            <a:xfrm>
              <a:off x="3801588" y="1287170"/>
              <a:ext cx="1459500" cy="1299095"/>
              <a:chOff x="1895300" y="3278570"/>
              <a:chExt cx="1459500" cy="1299095"/>
            </a:xfrm>
          </p:grpSpPr>
          <p:pic>
            <p:nvPicPr>
              <p:cNvPr id="128" name="Google Shape;128;p17" title="reduction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167850" y="327857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17"/>
              <p:cNvSpPr txBox="1"/>
              <p:nvPr/>
            </p:nvSpPr>
            <p:spPr>
              <a:xfrm>
                <a:off x="1895300" y="4177586"/>
                <a:ext cx="1459500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"/>
                    <a:cs typeface="Times New Roman" panose="02020603050405020304" pitchFamily="18" charset="0"/>
                    <a:sym typeface="Lexend"/>
                  </a:rPr>
                  <a:t>Reduce</a:t>
                </a:r>
                <a:endParaRPr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"/>
                  <a:cs typeface="Times New Roman" panose="02020603050405020304" pitchFamily="18" charset="0"/>
                  <a:sym typeface="Lexend"/>
                </a:endParaRPr>
              </a:p>
            </p:txBody>
          </p:sp>
        </p:grpSp>
        <p:grpSp>
          <p:nvGrpSpPr>
            <p:cNvPr id="130" name="Google Shape;130;p17"/>
            <p:cNvGrpSpPr/>
            <p:nvPr/>
          </p:nvGrpSpPr>
          <p:grpSpPr>
            <a:xfrm>
              <a:off x="2607850" y="3111225"/>
              <a:ext cx="1459500" cy="1347690"/>
              <a:chOff x="3000000" y="3001800"/>
              <a:chExt cx="1459500" cy="1347690"/>
            </a:xfrm>
          </p:grpSpPr>
          <p:pic>
            <p:nvPicPr>
              <p:cNvPr id="131" name="Google Shape;131;p17" title="trus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272540" y="300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" name="Google Shape;132;p17"/>
              <p:cNvSpPr txBox="1"/>
              <p:nvPr/>
            </p:nvSpPr>
            <p:spPr>
              <a:xfrm>
                <a:off x="3000000" y="3949411"/>
                <a:ext cx="1459500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"/>
                    <a:cs typeface="Times New Roman" panose="02020603050405020304" pitchFamily="18" charset="0"/>
                    <a:sym typeface="Lexend"/>
                  </a:rPr>
                  <a:t>Trust</a:t>
                </a:r>
                <a:endParaRPr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"/>
                  <a:cs typeface="Times New Roman" panose="02020603050405020304" pitchFamily="18" charset="0"/>
                  <a:sym typeface="Lexend"/>
                </a:endParaRPr>
              </a:p>
            </p:txBody>
          </p:sp>
        </p:grpSp>
        <p:grpSp>
          <p:nvGrpSpPr>
            <p:cNvPr id="133" name="Google Shape;133;p17"/>
            <p:cNvGrpSpPr/>
            <p:nvPr/>
          </p:nvGrpSpPr>
          <p:grpSpPr>
            <a:xfrm>
              <a:off x="6325963" y="1287175"/>
              <a:ext cx="1459500" cy="1345440"/>
              <a:chOff x="5554975" y="1241700"/>
              <a:chExt cx="1459500" cy="1345440"/>
            </a:xfrm>
          </p:grpSpPr>
          <p:pic>
            <p:nvPicPr>
              <p:cNvPr id="134" name="Google Shape;134;p17" title="efficacy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827515" y="12417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17"/>
              <p:cNvSpPr txBox="1"/>
              <p:nvPr/>
            </p:nvSpPr>
            <p:spPr>
              <a:xfrm>
                <a:off x="5554975" y="2187061"/>
                <a:ext cx="1459500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dk2"/>
                    </a:solidFill>
                    <a:latin typeface="Times New Roman" panose="02020603050405020304" pitchFamily="18" charset="0"/>
                    <a:ea typeface="Lexend"/>
                    <a:cs typeface="Times New Roman" panose="02020603050405020304" pitchFamily="18" charset="0"/>
                    <a:sym typeface="Lexend"/>
                  </a:rPr>
                  <a:t>Efficiency</a:t>
                </a:r>
                <a:endParaRPr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"/>
                  <a:cs typeface="Times New Roman" panose="02020603050405020304" pitchFamily="18" charset="0"/>
                  <a:sym typeface="Lexend"/>
                </a:endParaRPr>
              </a:p>
            </p:txBody>
          </p:sp>
        </p:grpSp>
      </p:grpSp>
      <p:sp>
        <p:nvSpPr>
          <p:cNvPr id="136" name="Google Shape;136;p17"/>
          <p:cNvSpPr txBox="1"/>
          <p:nvPr/>
        </p:nvSpPr>
        <p:spPr>
          <a:xfrm>
            <a:off x="5133925" y="4250336"/>
            <a:ext cx="14595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 panose="02020603050405020304" pitchFamily="18" charset="0"/>
                <a:ea typeface="Lexend"/>
                <a:cs typeface="Times New Roman" panose="02020603050405020304" pitchFamily="18" charset="0"/>
                <a:sym typeface="Lexend"/>
              </a:rPr>
              <a:t>Scale</a:t>
            </a:r>
            <a:endParaRPr b="1" dirty="0">
              <a:solidFill>
                <a:schemeClr val="dk2"/>
              </a:solidFill>
              <a:latin typeface="Times New Roman" panose="02020603050405020304" pitchFamily="18" charset="0"/>
              <a:ea typeface="Lexend"/>
              <a:cs typeface="Times New Roman" panose="02020603050405020304" pitchFamily="18" charset="0"/>
              <a:sym typeface="Lexe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399200" y="129477"/>
            <a:ext cx="634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BUSINESS MODEL</a:t>
            </a:r>
            <a:endParaRPr sz="44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304800" y="304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1399200" y="1927095"/>
            <a:ext cx="6345600" cy="1787047"/>
            <a:chOff x="1399200" y="1927095"/>
            <a:chExt cx="6345600" cy="1787047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2015502" y="1927095"/>
              <a:ext cx="1289310" cy="1289304"/>
              <a:chOff x="1475839" y="1761995"/>
              <a:chExt cx="1289310" cy="1289304"/>
            </a:xfrm>
          </p:grpSpPr>
          <p:pic>
            <p:nvPicPr>
              <p:cNvPr id="146" name="Google Shape;146;p18" title="strawberry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75839" y="1761995"/>
                <a:ext cx="1289304" cy="12893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18" title="recycling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199350" y="2483750"/>
                <a:ext cx="565800" cy="56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18"/>
            <p:cNvGrpSpPr/>
            <p:nvPr/>
          </p:nvGrpSpPr>
          <p:grpSpPr>
            <a:xfrm>
              <a:off x="5750391" y="1928825"/>
              <a:ext cx="1285825" cy="1285837"/>
              <a:chOff x="5353304" y="1763713"/>
              <a:chExt cx="1285825" cy="1285837"/>
            </a:xfrm>
          </p:grpSpPr>
          <p:pic>
            <p:nvPicPr>
              <p:cNvPr id="149" name="Google Shape;149;p18" title="flower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353304" y="1763713"/>
                <a:ext cx="1285825" cy="1285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" name="Google Shape;150;p18" title="recycling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073325" y="2483750"/>
                <a:ext cx="565800" cy="56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1" name="Google Shape;151;p18"/>
            <p:cNvSpPr txBox="1"/>
            <p:nvPr/>
          </p:nvSpPr>
          <p:spPr>
            <a:xfrm>
              <a:off x="1399200" y="3283285"/>
              <a:ext cx="634560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dk2"/>
                  </a:solidFill>
                  <a:latin typeface="Times New Roman" panose="02020603050405020304" pitchFamily="18" charset="0"/>
                  <a:ea typeface="Lexend Medium"/>
                  <a:cs typeface="Times New Roman" panose="02020603050405020304" pitchFamily="18" charset="0"/>
                  <a:sym typeface="Lexend Medium"/>
                </a:rPr>
                <a:t>The Core Of Our Business Model Is To Sell Refill Packs</a:t>
              </a:r>
              <a:endParaRPr sz="1600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1399200" y="154988"/>
            <a:ext cx="634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MARKET ANALYSIS</a:t>
            </a:r>
            <a:endParaRPr sz="30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pic>
        <p:nvPicPr>
          <p:cNvPr id="157" name="Google Shape;157;p19" title="mosquito_market_bd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2225" y="865063"/>
            <a:ext cx="6459540" cy="4037213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1399200" y="154988"/>
            <a:ext cx="634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FINANCIAL PLAN</a:t>
            </a:r>
            <a:endParaRPr sz="30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pic>
        <p:nvPicPr>
          <p:cNvPr id="163" name="Google Shape;163;p20" title="financial_projection_bug_bott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200" y="894663"/>
            <a:ext cx="6727593" cy="4037213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1399200" y="235226"/>
            <a:ext cx="63456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RISK ANALYSIS CYCLE</a:t>
            </a:r>
            <a:endParaRPr sz="40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884525" y="2563337"/>
            <a:ext cx="1578000" cy="6770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Market Adoption</a:t>
            </a:r>
            <a:endParaRPr sz="16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462525" y="1469588"/>
            <a:ext cx="1968600" cy="6770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Competition &amp; Pricing</a:t>
            </a:r>
            <a:endParaRPr sz="16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5290875" y="2447837"/>
            <a:ext cx="1968600" cy="6770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Quality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&amp; Safety</a:t>
            </a:r>
            <a:endParaRPr sz="16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3462525" y="3752720"/>
            <a:ext cx="1968600" cy="6770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Seasonal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Demand</a:t>
            </a:r>
            <a:endParaRPr sz="1600" b="1" dirty="0">
              <a:solidFill>
                <a:schemeClr val="dk2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cxnSp>
        <p:nvCxnSpPr>
          <p:cNvPr id="173" name="Google Shape;173;p21"/>
          <p:cNvCxnSpPr>
            <a:stCxn id="170" idx="1"/>
            <a:endCxn id="169" idx="0"/>
          </p:cNvCxnSpPr>
          <p:nvPr/>
        </p:nvCxnSpPr>
        <p:spPr>
          <a:xfrm flipH="1">
            <a:off x="2673525" y="1808127"/>
            <a:ext cx="789000" cy="75521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74" name="Google Shape;174;p21"/>
          <p:cNvCxnSpPr>
            <a:stCxn id="169" idx="2"/>
            <a:endCxn id="172" idx="1"/>
          </p:cNvCxnSpPr>
          <p:nvPr/>
        </p:nvCxnSpPr>
        <p:spPr>
          <a:xfrm>
            <a:off x="2673525" y="3240415"/>
            <a:ext cx="789000" cy="85084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75" name="Google Shape;175;p21"/>
          <p:cNvCxnSpPr>
            <a:stCxn id="172" idx="3"/>
            <a:endCxn id="171" idx="2"/>
          </p:cNvCxnSpPr>
          <p:nvPr/>
        </p:nvCxnSpPr>
        <p:spPr>
          <a:xfrm flipV="1">
            <a:off x="5431125" y="3124915"/>
            <a:ext cx="844050" cy="96634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76" name="Google Shape;176;p21"/>
          <p:cNvCxnSpPr>
            <a:stCxn id="171" idx="0"/>
            <a:endCxn id="170" idx="3"/>
          </p:cNvCxnSpPr>
          <p:nvPr/>
        </p:nvCxnSpPr>
        <p:spPr>
          <a:xfrm flipH="1" flipV="1">
            <a:off x="5431125" y="1808127"/>
            <a:ext cx="844050" cy="63971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1846858" y="1583010"/>
            <a:ext cx="6209701" cy="2256451"/>
            <a:chOff x="1372275" y="1238350"/>
            <a:chExt cx="6209701" cy="2256451"/>
          </a:xfrm>
        </p:grpSpPr>
        <p:pic>
          <p:nvPicPr>
            <p:cNvPr id="182" name="Google Shape;182;p22" title="mosquit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25525" y="1238350"/>
              <a:ext cx="2256451" cy="2256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2"/>
            <p:cNvSpPr txBox="1"/>
            <p:nvPr/>
          </p:nvSpPr>
          <p:spPr>
            <a:xfrm>
              <a:off x="1372275" y="2317500"/>
              <a:ext cx="60714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 dirty="0">
                  <a:solidFill>
                    <a:schemeClr val="dk2"/>
                  </a:solidFill>
                  <a:latin typeface="Times New Roman" panose="02020603050405020304" pitchFamily="18" charset="0"/>
                  <a:ea typeface="Lexend ExtraBold"/>
                  <a:cs typeface="Times New Roman" panose="02020603050405020304" pitchFamily="18" charset="0"/>
                  <a:sym typeface="Lexend ExtraBold"/>
                </a:rPr>
                <a:t>THANK YOU</a:t>
              </a:r>
              <a:endParaRPr sz="6000" b="1" dirty="0">
                <a:solidFill>
                  <a:schemeClr val="dk2"/>
                </a:solidFill>
                <a:latin typeface="Times New Roman" panose="02020603050405020304" pitchFamily="18" charset="0"/>
                <a:ea typeface="Lexend ExtraBold"/>
                <a:cs typeface="Times New Roman" panose="02020603050405020304" pitchFamily="18" charset="0"/>
                <a:sym typeface="Lexend ExtraBold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EBB29B-B8A1-CB71-ED26-A57365B99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494" y="565003"/>
            <a:ext cx="2465313" cy="2374844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</Words>
  <Application>Microsoft Office PowerPoint</Application>
  <PresentationFormat>On-screen Show (16:9)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Lexend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Sindid Hossain</cp:lastModifiedBy>
  <cp:revision>2</cp:revision>
  <dcterms:modified xsi:type="dcterms:W3CDTF">2025-12-11T16:22:23Z</dcterms:modified>
</cp:coreProperties>
</file>